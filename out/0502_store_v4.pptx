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for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60600"/>
            <a:ext cx="4851400" cy="149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Quản lý bảo trì thiết bị cửa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30650"/>
            <a:ext cx="48514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0">
                <a:solidFill>
                  <a:srgbClr val="FFBC0C"/>
                </a:solidFill>
                <a:latin typeface="Calibri"/>
              </a:rPr>
              <a:t>Quy trình 0502 · Hướng dẫn dành cho Cửa hàng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Cửa hàng làm gì trong quy trình?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Một phiếu bảo trì đi qua 4 nhóm người - cửa hàng chỉ chạm vào 3 thời điểm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Việc của 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Báo hỏng khi thiết bị gặp sự cố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Duyệt chi phí khi kỹ thuật viên trình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Nghiệm thu sau khi sửa xong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Hệ thống tự thông báo khi tới lượt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9200" y="1600200"/>
            <a:ext cx="5283200" cy="4318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9200" y="1600200"/>
            <a:ext cx="5283200" cy="4826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2400" y="1714500"/>
            <a:ext cx="4876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Không phải việc của cửa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2400" y="2286000"/>
            <a:ext cx="487680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Kiểm tra, chẩn đoán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Khai vật tư, tính chi phí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Lấy vật tư, xuất kho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Thi công sửa chữa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Nội dung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9600" y="17272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3800" y="17653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Toàn cảnh: 3 điểm chạm của cửa hàng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800" y="24765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1 - Báo hỏng, tạo phiếu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496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31877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2 - Duyệt chi phí và vật tư</a:t>
            </a:r>
          </a:p>
        </p:txBody>
      </p:sp>
      <p:sp>
        <p:nvSpPr>
          <p:cNvPr id="10" name="Oval 9"/>
          <p:cNvSpPr/>
          <p:nvPr/>
        </p:nvSpPr>
        <p:spPr>
          <a:xfrm>
            <a:off x="609600" y="38608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3800" y="38989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Điểm chạm 3 - Nghiệm thu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4572000"/>
            <a:ext cx="381000" cy="3810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3800" y="4610100"/>
            <a:ext cx="10388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>
                <a:solidFill>
                  <a:srgbClr val="595956"/>
                </a:solidFill>
                <a:latin typeface="Calibri"/>
              </a:rPr>
              <a:t>Tóm tắt: 3 nút cần nhớ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Hành trình một phiếu bảo trì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Ô đỏ là việc của cửa hàng - giữa các bước, hệ thống tự gửi thông báo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Báo hỏng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Tạo phiếu, chọn thiết bị 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38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400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Tiếp nhận</a:t>
            </a:r>
            <a:br/>
            <a:r>
              <a:rPr sz="1700" b="1">
                <a:solidFill>
                  <a:srgbClr val="595956"/>
                </a:solidFill>
                <a:latin typeface="Calibri"/>
              </a:rPr>
              <a:t>Kiểm 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38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92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Ra hiện trường, khai vật tư, ước tính chi phí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02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 + QLKT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Cả hai cùng duyệt thì phiếu mới qua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44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Sửa chữa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Kỹ thuật viên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76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Lấy vật tư, xuất kho, thi công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6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6400" y="2108200"/>
            <a:ext cx="1701800" cy="1092200"/>
          </a:xfrm>
          <a:prstGeom prst="rect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26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64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BC0C"/>
                </a:solidFill>
                <a:latin typeface="Calibri"/>
              </a:rPr>
              <a:t>CỬA HÀNG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18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Đạt thì đóng phiếu, chưa đạt thì trả lại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2800" y="2463800"/>
            <a:ext cx="2032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DB0007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80600" y="2108200"/>
            <a:ext cx="1701800" cy="10922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6800" y="2235200"/>
            <a:ext cx="1549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595956"/>
                </a:solidFill>
                <a:latin typeface="Calibri"/>
              </a:rPr>
              <a:t>Hoàn tất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0600" y="3302000"/>
            <a:ext cx="1701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D8D8D4"/>
                </a:solidFill>
                <a:latin typeface="Calibri"/>
              </a:rPr>
              <a:t>Hệ thống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3657600"/>
            <a:ext cx="1651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rgbClr val="595956"/>
                </a:solidFill>
                <a:latin typeface="Calibri"/>
              </a:rPr>
              <a:t>Ghi nhận người và thời điểm nghiệm thu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146800"/>
            <a:ext cx="10972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95956"/>
                </a:solidFill>
                <a:latin typeface="Calibri"/>
              </a:rPr>
              <a:t>Cửa hàng chỉ cần nhớ 3 lần bấm nút. Giữa các lần đó, kỹ thuật viên lo phần chuyên môn.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Báo hỏng - Tạo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99280"/>
            <a:ext cx="109728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Khi thiết bị tại cửa hàng gặp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Tạo phiếu báo hỏng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Đường dẫn: Bảo trì → Yêu cầu bảo trì →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shots/01-tao-phieu.png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Nhập tiêu đề ngắn gọn, mô tả đúng sự cố. Ví dụ: Máy lạnh khu bếp không mát</a:t>
            </a:r>
          </a:p>
        </p:txBody>
      </p:sp>
      <p:sp>
        <p:nvSpPr>
          <p:cNvPr id="8" name="Oval 7"/>
          <p:cNvSpPr/>
          <p:nvPr/>
        </p:nvSpPr>
        <p:spPr>
          <a:xfrm>
            <a:off x="7696200" y="2565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4200" y="25781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Chọn thiết bị bị hỏng từ danh sách</a:t>
            </a:r>
          </a:p>
        </p:txBody>
      </p:sp>
      <p:sp>
        <p:nvSpPr>
          <p:cNvPr id="10" name="Oval 9"/>
          <p:cNvSpPr/>
          <p:nvPr/>
        </p:nvSpPr>
        <p:spPr>
          <a:xfrm>
            <a:off x="7696200" y="299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00" y="30099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Ô Cửa hàng tự động điền theo thiết bị đã chọn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6195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gõ tay, không lo chọn nhầm sang cửa hàng khác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241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254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Mô tả tình trạng hỏng để kỹ thuật viên dễ hình dung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14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27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Bấm Lưu - phần việc của cửa hàng ở bước này kết thúc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1. Phân quyền theo cửa hàng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Vì sao cả chuỗi dùng chung một hệ thống mà không lẫn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shots/02-phan-quyen.png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chỉ nhìn thấy thiết bị của chính cửa hàng mình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thấy các phiếu bảo trì do cửa hàng mình tạo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Dữ liệu cửa hàng khác được hệ thống khóa hoàn toàn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cần lo lọc nhầm hay xem nhầm phiếu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Sau khi lưu phiếu, kỹ thuật viên nhận thông báo và tiếp nhận. Cửa hàng chờ đến bước duyệt.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Duyệt phiếu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99280"/>
            <a:ext cx="109728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Chi phí và vật tư - điểm chạm quan trọng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Nguyên tắc hai chữ ký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Thiết kế cốt lõi của bước duyệt</a:t>
            </a:r>
          </a:p>
        </p:txBody>
      </p:sp>
      <p:sp>
        <p:nvSpPr>
          <p:cNvPr id="5" name="Rectangle 4"/>
          <p:cNvSpPr/>
          <p:nvPr/>
        </p:nvSpPr>
        <p:spPr>
          <a:xfrm>
            <a:off x="51054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shots/03-hai-chu-ky.png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Cửa hàng duyệt phần CHI PHÍ, vì cửa hàng là nơi chịu tiền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Quản lý kỹ thuật duyệt phần VẬT TƯ và kỹ thuật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Chỉ khi cả hai cùng bấm duyệt thì phiếu mới thông qua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Hai chữ ký là hai lớp kiểm soát độc lập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74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đã duyệt mà phiếu vẫn đang chờ là ĐÚNG - phiếu còn chờ quản lý kỹ thuật, không phải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Đọc phiếu duyệt theo thứ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Ba chỗ cần xem là đủ căn cứ quyết định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5969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shots/04-doc-phieu-duyet.png</a:t>
            </a:r>
          </a:p>
        </p:txBody>
      </p:sp>
      <p:sp>
        <p:nvSpPr>
          <p:cNvPr id="6" name="Oval 5"/>
          <p:cNvSpPr/>
          <p:nvPr/>
        </p:nvSpPr>
        <p:spPr>
          <a:xfrm>
            <a:off x="6934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2200" y="16637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Amount - tổng tiền sẽ duyệt chi, hệ thống tự cộng nhân công cộng vật tư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2273300"/>
            <a:ext cx="4140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Số tự động tính, không sợ cộng sai</a:t>
            </a:r>
          </a:p>
        </p:txBody>
      </p:sp>
      <p:sp>
        <p:nvSpPr>
          <p:cNvPr id="9" name="Oval 8"/>
          <p:cNvSpPr/>
          <p:nvPr/>
        </p:nvSpPr>
        <p:spPr>
          <a:xfrm>
            <a:off x="6934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2200" y="26924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Kết quả kiểm tra - kỹ thuật viên ghi máy bị gì, đề xuất xử lý ra sao. Đọc đầu tiên để hiểu bối cảnh</a:t>
            </a:r>
          </a:p>
        </p:txBody>
      </p:sp>
      <p:sp>
        <p:nvSpPr>
          <p:cNvPr id="11" name="Oval 10"/>
          <p:cNvSpPr/>
          <p:nvPr/>
        </p:nvSpPr>
        <p:spPr>
          <a:xfrm>
            <a:off x="6934200" y="359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42200" y="36068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Products - bảng vật tư, từng linh kiện kèm giá vốn và thành tiền</a:t>
            </a:r>
          </a:p>
        </p:txBody>
      </p:sp>
      <p:sp>
        <p:nvSpPr>
          <p:cNvPr id="13" name="Oval 12"/>
          <p:cNvSpPr/>
          <p:nvPr/>
        </p:nvSpPr>
        <p:spPr>
          <a:xfrm>
            <a:off x="6934200" y="42672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2200" y="42799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nhân công - tiền công ước tính cho lần sửa này</a:t>
            </a:r>
          </a:p>
        </p:txBody>
      </p:sp>
      <p:sp>
        <p:nvSpPr>
          <p:cNvPr id="15" name="Oval 14"/>
          <p:cNvSpPr/>
          <p:nvPr/>
        </p:nvSpPr>
        <p:spPr>
          <a:xfrm>
            <a:off x="6934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2200" y="49530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Planned Start / End - mốc thời gian kỹ thuật viên dự kiến làm</a:t>
            </a:r>
          </a:p>
        </p:txBody>
      </p:sp>
      <p:sp>
        <p:nvSpPr>
          <p:cNvPr id="17" name="Oval 16"/>
          <p:cNvSpPr/>
          <p:nvPr/>
        </p:nvSpPr>
        <p:spPr>
          <a:xfrm>
            <a:off x="6934200" y="56134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2200" y="5626100"/>
            <a:ext cx="4140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Tab Approver(s) - thấy cả cửa hàng và quản lý kỹ thuật ở đây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2. Quyết định duyệt hoặc từ chối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shots/05-duyet-tu-choi.png</a:t>
            </a:r>
          </a:p>
        </p:txBody>
      </p:sp>
      <p:sp>
        <p:nvSpPr>
          <p:cNvPr id="5" name="Oval 4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Chi phí hợp lý → bấm Approve để duyệt</a:t>
            </a:r>
          </a:p>
        </p:txBody>
      </p:sp>
      <p:sp>
        <p:nvSpPr>
          <p:cNvPr id="7" name="Oval 6"/>
          <p:cNvSpPr/>
          <p:nvPr/>
        </p:nvSpPr>
        <p:spPr>
          <a:xfrm>
            <a:off x="7696200" y="23241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3368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Chưa hợp lý → bấm Refuse, hệ thống báo ngược cho kỹ thuật viên điều chỉnh và trình lại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32385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32512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Cửa hàng duyệt TIỀN, không duyệt kỹ thuật. Phần chuyên môn đã có quản lý kỹ thuật gác giúp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4152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4165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Cả hai duyệt xong, phiếu chuyển Approved, kỹ thuật viên bắt đầu chuẩn bị vật tư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905000"/>
            <a:ext cx="1905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900" b="1">
                <a:solidFill>
                  <a:srgbClr val="FFBC0C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454400"/>
            <a:ext cx="10972800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700" b="1">
                <a:solidFill>
                  <a:srgbClr val="FFFFFF"/>
                </a:solidFill>
                <a:latin typeface="Calibri"/>
              </a:rPr>
              <a:t>Nghiệm thu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99280"/>
            <a:ext cx="109728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0">
                <a:solidFill>
                  <a:srgbClr val="FFBC0C"/>
                </a:solidFill>
                <a:latin typeface="Calibri"/>
              </a:rPr>
              <a:t>Cửa hàng là người gác cổng cuối cùng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Nghiệm thu sau khi sửa xong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Tab Nghiệm thu chỉ hiện khi kỹ thuật viên đã báo hoàn tất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6731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shots/06-nghiem-thu.png</a:t>
            </a:r>
          </a:p>
        </p:txBody>
      </p:sp>
      <p:sp>
        <p:nvSpPr>
          <p:cNvPr id="6" name="Oval 5"/>
          <p:cNvSpPr/>
          <p:nvPr/>
        </p:nvSpPr>
        <p:spPr>
          <a:xfrm>
            <a:off x="7696200" y="16510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4200" y="16637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Nhận thông báo tự động khi kỹ thuật viên bấm hoàn tất sửa chữa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4200" y="2273300"/>
            <a:ext cx="3378200" cy="482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Không cần ai gọi điện nhắc</a:t>
            </a:r>
          </a:p>
        </p:txBody>
      </p:sp>
      <p:sp>
        <p:nvSpPr>
          <p:cNvPr id="9" name="Oval 8"/>
          <p:cNvSpPr/>
          <p:nvPr/>
        </p:nvSpPr>
        <p:spPr>
          <a:xfrm>
            <a:off x="7696200" y="26797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4200" y="26924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Ra kiểm tra thực tế xem thiết bị đã chạy tốt chưa</a:t>
            </a:r>
          </a:p>
        </p:txBody>
      </p:sp>
      <p:sp>
        <p:nvSpPr>
          <p:cNvPr id="11" name="Oval 10"/>
          <p:cNvSpPr/>
          <p:nvPr/>
        </p:nvSpPr>
        <p:spPr>
          <a:xfrm>
            <a:off x="7696200" y="33528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4200" y="33655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Ghi chú nghiệm thu nếu cần (không bắt buộc)</a:t>
            </a:r>
          </a:p>
        </p:txBody>
      </p:sp>
      <p:sp>
        <p:nvSpPr>
          <p:cNvPr id="13" name="Oval 12"/>
          <p:cNvSpPr/>
          <p:nvPr/>
        </p:nvSpPr>
        <p:spPr>
          <a:xfrm>
            <a:off x="7696200" y="40259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40386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Đạt → phiếu đóng, hệ thống ghi người và thời điểm nghiệm thu</a:t>
            </a:r>
          </a:p>
        </p:txBody>
      </p:sp>
      <p:sp>
        <p:nvSpPr>
          <p:cNvPr id="15" name="Oval 14"/>
          <p:cNvSpPr/>
          <p:nvPr/>
        </p:nvSpPr>
        <p:spPr>
          <a:xfrm>
            <a:off x="7696200" y="4940300"/>
            <a:ext cx="355600" cy="355600"/>
          </a:xfrm>
          <a:prstGeom prst="ellipse">
            <a:avLst/>
          </a:prstGeom>
          <a:solidFill>
            <a:srgbClr val="DB0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4200" y="4953000"/>
            <a:ext cx="33782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0">
                <a:solidFill>
                  <a:srgbClr val="595956"/>
                </a:solidFill>
                <a:latin typeface="Calibri"/>
              </a:rPr>
              <a:t>Nghiệm thu Cần làm lại → phiếu tự quay về cho kỹ thuật viên sửa tiếp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3. Vòng lặp cho đến khi hài lòng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600200"/>
            <a:ext cx="6477000" cy="4419600"/>
          </a:xfrm>
          <a:prstGeom prst="rect">
            <a:avLst/>
          </a:prstGeom>
          <a:solidFill>
            <a:srgbClr val="F5F5F3"/>
          </a:solidFill>
          <a:ln w="12700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D8D8D4"/>
                </a:solidFill>
                <a:latin typeface="Calibri"/>
              </a:rPr>
              <a:t>[ Ảnh chụp màn hình ]</a:t>
            </a:r>
            <a:br/>
            <a:r>
              <a:rPr sz="1600">
                <a:solidFill>
                  <a:srgbClr val="D8D8D4"/>
                </a:solidFill>
                <a:latin typeface="Calibri"/>
              </a:rPr>
              <a:t>shots/07-vong-lap.png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42200" y="1676400"/>
            <a:ext cx="4140200" cy="441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Chưa đạt thì bấm Cần làm lại, phiếu quay lại kỹ thuật viên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Sửa xong lại nghiệm thu, lặp đến khi cửa hàng thực sự hài lòng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Không có phiếu nào bị bỏ lửng giữa chừng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700">
                <a:solidFill>
                  <a:srgbClr val="595956"/>
                </a:solidFill>
                <a:latin typeface="Calibri"/>
              </a:rPr>
              <a:t>• Máy chưa ổn thì phiếu chưa được đóng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442200" y="5003800"/>
            <a:ext cx="4140200" cy="10160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0" y="5143500"/>
            <a:ext cx="3784600" cy="78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DB0007"/>
                </a:solidFill>
                <a:latin typeface="Calibri"/>
              </a:rPr>
              <a:t>⚠ Cửa hàng là người gác cổng cuối cùng của toàn bộ quy trình.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82600"/>
            <a:ext cx="109728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100" b="1">
                <a:solidFill>
                  <a:srgbClr val="DB0007"/>
                </a:solidFill>
                <a:latin typeface="Calibri"/>
              </a:rPr>
              <a:t>Tóm tắt: cửa hàng chỉ cần nhớ 3 nút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066800"/>
            <a:ext cx="711200" cy="50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181100"/>
            <a:ext cx="109728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595956"/>
                </a:solidFill>
                <a:latin typeface="Calibri"/>
              </a:rPr>
              <a:t>Nếu chỉ nhớ được một slide, hãy nhớ slide này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600200"/>
          <a:ext cx="10972800" cy="31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852928"/>
                <a:gridCol w="5047488"/>
                <a:gridCol w="2414016"/>
              </a:tblGrid>
              <a:tr h="7874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Khi nào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Cửa hàng làm gì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Nút bấm</a:t>
                      </a:r>
                    </a:p>
                  </a:txBody>
                  <a:tcPr>
                    <a:solidFill>
                      <a:srgbClr val="DB0007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Thiết bị hỏng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Tạo phiếu, chọn thiết bị (ô cửa hàng tự điền)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Lưu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Kỹ thuật viên trình chi phí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Đọc Amount và Kết quả kiểm tra, quyết định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Approve / Refuse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Sửa xong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Kiểm tra thực tế, chốt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595956"/>
                          </a:solidFill>
                          <a:latin typeface="Calibri"/>
                        </a:rPr>
                        <a:t>Đạt / Cần làm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 for 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FFB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540000"/>
            <a:ext cx="4851400" cy="8096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300" b="1">
                <a:solidFill>
                  <a:srgbClr val="FFFFFF"/>
                </a:solidFill>
                <a:latin typeface="Calibri"/>
              </a:rPr>
              <a:t>Cảm 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27425"/>
            <a:ext cx="48514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0">
                <a:solidFill>
                  <a:srgbClr val="FFBC0C"/>
                </a:solidFill>
                <a:latin typeface="Calibri"/>
              </a:rPr>
              <a:t>Hỏng thì tạo phiếu · Trình thì duyệt tiền · Sửa xong thì nghiệm thu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0" y="6426200"/>
            <a:ext cx="63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D8D8D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