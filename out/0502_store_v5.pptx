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883411"/>
            <a:ext cx="4851400" cy="1742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300" b="1">
                <a:solidFill>
                  <a:srgbClr val="FFFFFF"/>
                </a:solidFill>
                <a:latin typeface="Calibri"/>
              </a:rPr>
              <a:t>Quản lý bảo trì thiết bị cửa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29049"/>
            <a:ext cx="4851400" cy="1018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0">
                <a:solidFill>
                  <a:srgbClr val="FFBC0C"/>
                </a:solidFill>
                <a:latin typeface="Calibri"/>
              </a:rPr>
              <a:t>Quy trình 0502 · Hướng dẫn dành cho Cửa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Cửa hàng làm gì trong quy trình?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Một phiếu bảo trì đi qua 4 nhóm người - cửa hàng chỉ chạm vào 3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Việc của 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Báo hỏng khi thiết bị gặp sự cố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Duyệt chi phí khi kỹ thuật viên trình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Nghiệm thu sau khi sửa xong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Hệ thống tự thông báo khi tới lượt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92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Không phải việc của 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Kiểm tra, chẩn đoán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Khai vật tư, tính chi phí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Lấy vật tư, xuất kho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Thi công sửa chữa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Nội 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9600" y="17272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0" y="17653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Toàn cảnh: 3 điểm chạm của cửa hàng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800" y="24765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1 - Báo hỏng, tạo phiếu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496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31877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2 - Duyệt chi phí và vật tư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8608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38989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3 - Nghiệm thu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45720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46101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Tóm tắt: 3 nút cần nhớ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Hành trình một phiếu bảo trì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Ô đỏ là việc của cửa hàng - giữa các bước, hệ thống tự gửi thông báo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Báo hỏng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Tạo phiếu, chọn thiết bị 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38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00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Tiếp nhận</a:t>
            </a:r>
            <a:br/>
            <a:r>
              <a:rPr sz="1700" b="1">
                <a:solidFill>
                  <a:srgbClr val="595956"/>
                </a:solidFill>
                <a:latin typeface="Calibri"/>
              </a:rPr>
              <a:t>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38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92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Ra hiện trường, khai vật tư, ước tính chi phí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 + QLKT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Cả hai cùng duyệt thì phiếu mới qua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76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Lấy vật tư, xuất kho, thi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4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8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Đạt thì đóng phiếu, chưa đạt thì trả lại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806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6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Hoàn tất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0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Ghi nhận người và thời điểm nghiệm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1468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95956"/>
                </a:solidFill>
                <a:latin typeface="Calibri"/>
              </a:rPr>
              <a:t>Cửa hàng chỉ cần nhớ 3 lần bấm nút. Giữa các lần đó, kỹ thuật viên lo phần chuyên môn.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517333"/>
            <a:ext cx="3810000" cy="191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100" b="1">
                <a:solidFill>
                  <a:srgbClr val="FFBC0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384233"/>
            <a:ext cx="10972800" cy="1087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300" b="1">
                <a:solidFill>
                  <a:srgbClr val="FFFFFF"/>
                </a:solidFill>
                <a:latin typeface="Calibri"/>
              </a:rPr>
              <a:t>Báo hỏng - Tạo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23752"/>
            <a:ext cx="10972800" cy="589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700" b="0">
                <a:solidFill>
                  <a:srgbClr val="FFBC0C"/>
                </a:solidFill>
                <a:latin typeface="Calibri"/>
              </a:rPr>
              <a:t>Khi thiết bị tại cửa hàng gặp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Tạo phiếu báo hỏng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Đường dẫn: Bảo trì → Yêu cầu bảo trì →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shots/01-tao-phieu.png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Nhập tiêu đề ngắn gọn, mô tả đúng sự cố. Ví dụ: Máy lạnh khu bếp không mát</a:t>
            </a:r>
          </a:p>
        </p:txBody>
      </p:sp>
      <p:sp>
        <p:nvSpPr>
          <p:cNvPr id="8" name="Oval 7"/>
          <p:cNvSpPr/>
          <p:nvPr/>
        </p:nvSpPr>
        <p:spPr>
          <a:xfrm>
            <a:off x="7696200" y="2565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200" y="25781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Chọn thiết bị bị hỏng từ danh sách</a:t>
            </a:r>
          </a:p>
        </p:txBody>
      </p:sp>
      <p:sp>
        <p:nvSpPr>
          <p:cNvPr id="10" name="Oval 9"/>
          <p:cNvSpPr/>
          <p:nvPr/>
        </p:nvSpPr>
        <p:spPr>
          <a:xfrm>
            <a:off x="7696200" y="299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30099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Ô Cửa hàng tự động điền theo thiết bị đã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6195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gõ tay, không lo chọn nhầm sang cửa hàng khác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241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254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Mô tả tình trạng hỏng để kỹ thuật viên dễ hình dung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14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27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Bấm Lưu - phần việc của cửa hàng ở bước này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Phân quyền theo cửa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Vì sao cả chuỗi dùng chung một hệ thống mà không lẫn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shots/02-phan-quyen.png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chỉ nhìn thấy thiết bị của chính cửa hàng mình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thấy các phiếu bảo trì do cửa hàng mình tạo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Dữ liệu cửa hàng khác được hệ thống khóa hoàn toàn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cần lo lọc nhầm hay xem nhầm phiếu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Sau khi lưu phiếu, kỹ thuật viên nhận thông báo và tiếp nhận. Cửa hàng chờ đến bước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517333"/>
            <a:ext cx="3810000" cy="191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100" b="1">
                <a:solidFill>
                  <a:srgbClr val="FFBC0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384233"/>
            <a:ext cx="10972800" cy="1087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3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23752"/>
            <a:ext cx="10972800" cy="589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700" b="0">
                <a:solidFill>
                  <a:srgbClr val="FFBC0C"/>
                </a:solidFill>
                <a:latin typeface="Calibri"/>
              </a:rPr>
              <a:t>Chi phí và vật tư - điểm chạm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Nguyên tắc hai chữ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Thiết kế cốt lõi của bước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shots/03-hai-chu-ky.png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duyệt phần CHI PHÍ, vì cửa hàng là nơi chịu tiền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Quản lý kỹ thuật duyệt phần VẬT TƯ và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khi cả hai cùng bấm duyệt thì phiếu mới thông qua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Hai chữ ký là hai lớp kiểm soát độc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4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đã duyệt mà phiếu vẫn đang chờ là ĐÚNG - phiếu còn chờ quản lý kỹ thuật, không phải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Đọc phiếu duyệt theo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Ba chỗ cần xem là đủ căn cứ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969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shots/04-doc-phieu-duyet.png</a:t>
            </a:r>
          </a:p>
        </p:txBody>
      </p:sp>
      <p:sp>
        <p:nvSpPr>
          <p:cNvPr id="6" name="Oval 5"/>
          <p:cNvSpPr/>
          <p:nvPr/>
        </p:nvSpPr>
        <p:spPr>
          <a:xfrm>
            <a:off x="6934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2200" y="16637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Amount - tổng tiền sẽ duyệt chi, hệ thống tự cộng nhân công cộng vật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2273300"/>
            <a:ext cx="4140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Số tự động tính, không sợ cộng sai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2200" y="26924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Kết quả kiểm tra - kỹ thuật viên ghi máy bị gì, đề xuất xử lý ra sao. Đọc đầu tiên để hiểu bối cảnh</a:t>
            </a:r>
          </a:p>
        </p:txBody>
      </p:sp>
      <p:sp>
        <p:nvSpPr>
          <p:cNvPr id="11" name="Oval 10"/>
          <p:cNvSpPr/>
          <p:nvPr/>
        </p:nvSpPr>
        <p:spPr>
          <a:xfrm>
            <a:off x="6934200" y="359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2200" y="36068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Products - bảng vật tư, từng linh kiện kèm giá vốn và thành tiền</a:t>
            </a:r>
          </a:p>
        </p:txBody>
      </p:sp>
      <p:sp>
        <p:nvSpPr>
          <p:cNvPr id="13" name="Oval 12"/>
          <p:cNvSpPr/>
          <p:nvPr/>
        </p:nvSpPr>
        <p:spPr>
          <a:xfrm>
            <a:off x="6934200" y="426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2200" y="42799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nhân công - tiền công ước tính cho lần sửa này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2200" y="49530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Planned Start / End - mốc thời gian kỹ thuật viên dự kiến làm</a:t>
            </a:r>
          </a:p>
        </p:txBody>
      </p:sp>
      <p:sp>
        <p:nvSpPr>
          <p:cNvPr id="17" name="Oval 16"/>
          <p:cNvSpPr/>
          <p:nvPr/>
        </p:nvSpPr>
        <p:spPr>
          <a:xfrm>
            <a:off x="6934200" y="5613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2200" y="56261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Approver(s) - thấy cả cửa hàng và quản lý kỹ thuật ở đây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Quyết định duyệt hoặc từ chối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shots/05-duyet-tu-choi.png</a:t>
            </a:r>
          </a:p>
        </p:txBody>
      </p:sp>
      <p:sp>
        <p:nvSpPr>
          <p:cNvPr id="5" name="Oval 4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hợp lý → bấm Approve để duyệt</a:t>
            </a:r>
          </a:p>
        </p:txBody>
      </p:sp>
      <p:sp>
        <p:nvSpPr>
          <p:cNvPr id="7" name="Oval 6"/>
          <p:cNvSpPr/>
          <p:nvPr/>
        </p:nvSpPr>
        <p:spPr>
          <a:xfrm>
            <a:off x="7696200" y="232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3368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Chưa hợp lý → bấm Refuse, hệ thống báo ngược cho kỹ thuật viên điều chỉnh và trình lại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32385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32512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Cửa hàng duyệt TIỀN, không duyệt kỹ thuật. Phần chuyên môn đã có quản lý kỹ thuật gác giúp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4152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4165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Cả hai duyệt xong, phiếu chuyển Approved, kỹ thuật viên bắt đầu chuẩn bị vật tư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517333"/>
            <a:ext cx="3810000" cy="191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100" b="1">
                <a:solidFill>
                  <a:srgbClr val="FFBC0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384233"/>
            <a:ext cx="10972800" cy="1087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3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623752"/>
            <a:ext cx="10972800" cy="589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700" b="0">
                <a:solidFill>
                  <a:srgbClr val="FFBC0C"/>
                </a:solidFill>
                <a:latin typeface="Calibri"/>
              </a:rPr>
              <a:t>Cửa hàng là người gác cổng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Nghiệm thu sau khi sửa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Tab Nghiệm thu chỉ hiện khi kỹ thuật viên đã báo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shots/06-nghiem-thu.png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Nhận thông báo tự động khi kỹ thuật viên bấm hoàn tất sửa chữa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2733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ai gọi điện nhắc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26924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Ra kiểm tra thực tế xem thiết bị đã chạy tốt chưa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3352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365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Ghi chú nghiệm thu nếu cần (không bắt buộc)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025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038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Đạt → phiếu đóng, hệ thống ghi người và thời điểm nghiệm thu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530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Cần làm lại → phiếu tự quay về cho kỹ thuật viên sửa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Vòng lặp cho đến khi hài lòng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shots/07-vong-lap.png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Chưa đạt thì bấm Cần làm lại, phiếu quay lại kỹ thuật viên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Sửa xong lại nghiệm thu, lặp đến khi cửa hàng thực sự hài lòng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có phiếu nào bị bỏ lửng giữa chừng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Máy chưa ổn thì phiếu chưa được đóng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là người gác cổng cuối cùng của toàn bộ quy trình.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Tóm tắt: cửa hàng chỉ cần nhớ 3 nút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Nếu chỉ nhớ được một slide, hãy nhớ slide này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002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852928"/>
                <a:gridCol w="5047488"/>
                <a:gridCol w="2414016"/>
              </a:tblGrid>
              <a:tr h="787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Khi nào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Cửa hàng làm gì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Nút bấm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Thiết bị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Tạo phiếu, chọn thiết bị (ô cửa hàng tự điền)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Kỹ thuật viên trình chi phí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Đọc Amount và Kết quả kiểm tra, quyết định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Approve / Refuse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Sửa xong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Kiểm tra thực tế, chốt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Đạt / Cần làm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87270"/>
            <a:ext cx="4851400" cy="934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300" b="1">
                <a:solidFill>
                  <a:srgbClr val="FFFFFF"/>
                </a:solidFill>
                <a:latin typeface="Calibri"/>
              </a:rPr>
              <a:t>Cảm 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25189"/>
            <a:ext cx="4851400" cy="1018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0">
                <a:solidFill>
                  <a:srgbClr val="FFBC0C"/>
                </a:solidFill>
                <a:latin typeface="Calibri"/>
              </a:rPr>
              <a:t>Hỏng thì tạo phiếu · Trình thì duyệt tiền · Sửa xong thì nghiệm thu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