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rgbClr val="FFB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2489200"/>
            <a:ext cx="109728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Quản lý bảo trì thiết bị cửa hàng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632200"/>
            <a:ext cx="109728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0">
                <a:solidFill>
                  <a:srgbClr val="FFBC0C"/>
                </a:solidFill>
                <a:latin typeface="Calibri"/>
              </a:rPr>
              <a:t>Quy trình 0502 · Hướng dẫn dành cho Cửa hàng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82600"/>
            <a:ext cx="10972800" cy="55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DB0007"/>
                </a:solidFill>
                <a:latin typeface="Calibri"/>
              </a:rPr>
              <a:t>Cửa hàng làm gì trong quy trình?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016000"/>
            <a:ext cx="711200" cy="50800"/>
          </a:xfrm>
          <a:prstGeom prst="rect">
            <a:avLst/>
          </a:prstGeom>
          <a:solidFill>
            <a:srgbClr val="FFB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117600"/>
            <a:ext cx="109728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595956"/>
                </a:solidFill>
                <a:latin typeface="Calibri"/>
              </a:rPr>
              <a:t>Một phiếu bảo trì đi qua 4 nhóm người - cửa hàng chỉ chạm vào 3 thời điểm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333500"/>
            <a:ext cx="5283200" cy="4318000"/>
          </a:xfrm>
          <a:prstGeom prst="rect">
            <a:avLst/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1333500"/>
            <a:ext cx="5283200" cy="482600"/>
          </a:xfrm>
          <a:prstGeom prst="rect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2800" y="1447800"/>
            <a:ext cx="4876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Việc của cửa hàng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00" y="2019300"/>
            <a:ext cx="4876800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400">
                <a:solidFill>
                  <a:srgbClr val="595956"/>
                </a:solidFill>
                <a:latin typeface="Calibri"/>
              </a:rPr>
              <a:t>• Báo hỏng khi thiết bị gặp sự cố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400">
                <a:solidFill>
                  <a:srgbClr val="595956"/>
                </a:solidFill>
                <a:latin typeface="Calibri"/>
              </a:rPr>
              <a:t>• Duyệt chi phí khi kỹ thuật viên trình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400">
                <a:solidFill>
                  <a:srgbClr val="595956"/>
                </a:solidFill>
                <a:latin typeface="Calibri"/>
              </a:rPr>
              <a:t>• Nghiệm thu sau khi sửa xong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400">
                <a:solidFill>
                  <a:srgbClr val="595956"/>
                </a:solidFill>
                <a:latin typeface="Calibri"/>
              </a:rPr>
              <a:t>• Hệ thống tự thông báo khi tới lượt</a:t>
            </a:r>
          </a:p>
        </p:txBody>
      </p:sp>
      <p:sp>
        <p:nvSpPr>
          <p:cNvPr id="9" name="Rectangle 8"/>
          <p:cNvSpPr/>
          <p:nvPr/>
        </p:nvSpPr>
        <p:spPr>
          <a:xfrm>
            <a:off x="6299200" y="1333500"/>
            <a:ext cx="5283200" cy="4318000"/>
          </a:xfrm>
          <a:prstGeom prst="rect">
            <a:avLst/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99200" y="1333500"/>
            <a:ext cx="5283200" cy="482600"/>
          </a:xfrm>
          <a:prstGeom prst="rect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2400" y="1447800"/>
            <a:ext cx="4876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Không phải việc của cửa hàng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2400" y="2019300"/>
            <a:ext cx="4876800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400">
                <a:solidFill>
                  <a:srgbClr val="595956"/>
                </a:solidFill>
                <a:latin typeface="Calibri"/>
              </a:rPr>
              <a:t>• Kiểm tra, chẩn đoán kỹ thuật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400">
                <a:solidFill>
                  <a:srgbClr val="595956"/>
                </a:solidFill>
                <a:latin typeface="Calibri"/>
              </a:rPr>
              <a:t>• Khai vật tư, tính chi phí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400">
                <a:solidFill>
                  <a:srgbClr val="595956"/>
                </a:solidFill>
                <a:latin typeface="Calibri"/>
              </a:rPr>
              <a:t>• Lấy vật tư, xuất kho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400">
                <a:solidFill>
                  <a:srgbClr val="595956"/>
                </a:solidFill>
                <a:latin typeface="Calibri"/>
              </a:rPr>
              <a:t>• Thi công sửa chữa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49000" y="6426200"/>
            <a:ext cx="63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D8D8D4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82600"/>
            <a:ext cx="10972800" cy="55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DB0007"/>
                </a:solidFill>
                <a:latin typeface="Calibri"/>
              </a:rPr>
              <a:t>Nội dung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016000"/>
            <a:ext cx="711200" cy="50800"/>
          </a:xfrm>
          <a:prstGeom prst="rect">
            <a:avLst/>
          </a:prstGeom>
          <a:solidFill>
            <a:srgbClr val="FFB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09600" y="1536700"/>
            <a:ext cx="330200" cy="3302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7600" y="1562100"/>
            <a:ext cx="10464800" cy="55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595956"/>
                </a:solidFill>
                <a:latin typeface="Calibri"/>
              </a:rPr>
              <a:t>Toàn cảnh: 3 điểm chạm của cửa hàng</a:t>
            </a:r>
          </a:p>
        </p:txBody>
      </p:sp>
      <p:sp>
        <p:nvSpPr>
          <p:cNvPr id="6" name="Oval 5"/>
          <p:cNvSpPr/>
          <p:nvPr/>
        </p:nvSpPr>
        <p:spPr>
          <a:xfrm>
            <a:off x="609600" y="2197100"/>
            <a:ext cx="330200" cy="3302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7600" y="2222500"/>
            <a:ext cx="10464800" cy="55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595956"/>
                </a:solidFill>
                <a:latin typeface="Calibri"/>
              </a:rPr>
              <a:t>Điểm chạm 1 - Báo hỏng, tạo phiếu</a:t>
            </a:r>
          </a:p>
        </p:txBody>
      </p:sp>
      <p:sp>
        <p:nvSpPr>
          <p:cNvPr id="8" name="Oval 7"/>
          <p:cNvSpPr/>
          <p:nvPr/>
        </p:nvSpPr>
        <p:spPr>
          <a:xfrm>
            <a:off x="609600" y="2857500"/>
            <a:ext cx="330200" cy="3302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7600" y="2882900"/>
            <a:ext cx="10464800" cy="55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595956"/>
                </a:solidFill>
                <a:latin typeface="Calibri"/>
              </a:rPr>
              <a:t>Điểm chạm 2 - Duyệt chi phí và vật tư</a:t>
            </a:r>
          </a:p>
        </p:txBody>
      </p:sp>
      <p:sp>
        <p:nvSpPr>
          <p:cNvPr id="10" name="Oval 9"/>
          <p:cNvSpPr/>
          <p:nvPr/>
        </p:nvSpPr>
        <p:spPr>
          <a:xfrm>
            <a:off x="609600" y="3517900"/>
            <a:ext cx="330200" cy="3302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7600" y="3543300"/>
            <a:ext cx="10464800" cy="55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595956"/>
                </a:solidFill>
                <a:latin typeface="Calibri"/>
              </a:rPr>
              <a:t>Điểm chạm 3 - Nghiệm thu</a:t>
            </a:r>
          </a:p>
        </p:txBody>
      </p:sp>
      <p:sp>
        <p:nvSpPr>
          <p:cNvPr id="12" name="Oval 11"/>
          <p:cNvSpPr/>
          <p:nvPr/>
        </p:nvSpPr>
        <p:spPr>
          <a:xfrm>
            <a:off x="609600" y="4178300"/>
            <a:ext cx="330200" cy="3302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7600" y="4203700"/>
            <a:ext cx="10464800" cy="55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595956"/>
                </a:solidFill>
                <a:latin typeface="Calibri"/>
              </a:rPr>
              <a:t>Tóm tắt: 3 nút cần nhớ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9000" y="6426200"/>
            <a:ext cx="63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D8D8D4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82600"/>
            <a:ext cx="10972800" cy="55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DB0007"/>
                </a:solidFill>
                <a:latin typeface="Calibri"/>
              </a:rPr>
              <a:t>Hành trình một phiếu bảo trì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016000"/>
            <a:ext cx="711200" cy="50800"/>
          </a:xfrm>
          <a:prstGeom prst="rect">
            <a:avLst/>
          </a:prstGeom>
          <a:solidFill>
            <a:srgbClr val="FFB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117600"/>
            <a:ext cx="109728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595956"/>
                </a:solidFill>
                <a:latin typeface="Calibri"/>
              </a:rPr>
              <a:t>Ô đỏ là việc của cửa hàng - giữa các bước, hệ thống tự gửi thông báo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841500"/>
            <a:ext cx="1701800" cy="914400"/>
          </a:xfrm>
          <a:prstGeom prst="rect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19300"/>
            <a:ext cx="1549400" cy="609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Báo hỏng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832100"/>
            <a:ext cx="17018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FFBC0C"/>
                </a:solidFill>
                <a:latin typeface="Calibri"/>
              </a:rPr>
              <a:t>CỬA HÀNG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3111500"/>
            <a:ext cx="165100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595956"/>
                </a:solidFill>
                <a:latin typeface="Calibri"/>
              </a:rPr>
              <a:t>Tạo phiếu, chọn thiết bị hỏng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120900"/>
            <a:ext cx="20320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DB0007"/>
                </a:solidFill>
                <a:latin typeface="Calibri"/>
              </a:rPr>
              <a:t>›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3800" y="1841500"/>
            <a:ext cx="1701800" cy="914400"/>
          </a:xfrm>
          <a:prstGeom prst="rect">
            <a:avLst/>
          </a:prstGeom>
          <a:solidFill>
            <a:srgbClr val="F5F5F3"/>
          </a:solidFill>
          <a:ln w="12700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40000" y="2019300"/>
            <a:ext cx="1549400" cy="609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595956"/>
                </a:solidFill>
                <a:latin typeface="Calibri"/>
              </a:rPr>
              <a:t>Tiếp nhận</a:t>
            </a:r>
            <a:br/>
            <a:r>
              <a:rPr sz="1400" b="1">
                <a:solidFill>
                  <a:srgbClr val="595956"/>
                </a:solidFill>
                <a:latin typeface="Calibri"/>
              </a:rPr>
              <a:t>Kiểm 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3800" y="2832100"/>
            <a:ext cx="17018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D8D8D4"/>
                </a:solidFill>
                <a:latin typeface="Calibri"/>
              </a:rPr>
              <a:t>Kỹ thuật viên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89200" y="3111500"/>
            <a:ext cx="165100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595956"/>
                </a:solidFill>
                <a:latin typeface="Calibri"/>
              </a:rPr>
              <a:t>Ra hiện trường, khai vật tư, ước tính chi phí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40200" y="2120900"/>
            <a:ext cx="20320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DB0007"/>
                </a:solidFill>
                <a:latin typeface="Calibri"/>
              </a:rPr>
              <a:t>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18000" y="1841500"/>
            <a:ext cx="1701800" cy="914400"/>
          </a:xfrm>
          <a:prstGeom prst="rect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4200" y="2019300"/>
            <a:ext cx="1549400" cy="609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Duyệt phiếu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8000" y="2832100"/>
            <a:ext cx="17018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FFBC0C"/>
                </a:solidFill>
                <a:latin typeface="Calibri"/>
              </a:rPr>
              <a:t>CỬA HÀNG + QLKT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3111500"/>
            <a:ext cx="165100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595956"/>
                </a:solidFill>
                <a:latin typeface="Calibri"/>
              </a:rPr>
              <a:t>Cả hai cùng duyệt thì phiếu mới qua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94400" y="2120900"/>
            <a:ext cx="20320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DB0007"/>
                </a:solidFill>
                <a:latin typeface="Calibri"/>
              </a:rPr>
              <a:t>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1841500"/>
            <a:ext cx="1701800" cy="914400"/>
          </a:xfrm>
          <a:prstGeom prst="rect">
            <a:avLst/>
          </a:prstGeom>
          <a:solidFill>
            <a:srgbClr val="F5F5F3"/>
          </a:solidFill>
          <a:ln w="12700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48400" y="2019300"/>
            <a:ext cx="1549400" cy="609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595956"/>
                </a:solidFill>
                <a:latin typeface="Calibri"/>
              </a:rPr>
              <a:t>Sửa chữa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2832100"/>
            <a:ext cx="17018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D8D8D4"/>
                </a:solidFill>
                <a:latin typeface="Calibri"/>
              </a:rPr>
              <a:t>Kỹ thuật viên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97600" y="3111500"/>
            <a:ext cx="165100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595956"/>
                </a:solidFill>
                <a:latin typeface="Calibri"/>
              </a:rPr>
              <a:t>Lấy vật tư, xuất kho, thi công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48600" y="2120900"/>
            <a:ext cx="20320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DB0007"/>
                </a:solidFill>
                <a:latin typeface="Calibri"/>
              </a:rPr>
              <a:t>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26400" y="1841500"/>
            <a:ext cx="1701800" cy="914400"/>
          </a:xfrm>
          <a:prstGeom prst="rect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02600" y="2019300"/>
            <a:ext cx="1549400" cy="609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Nghiệm thu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6400" y="2832100"/>
            <a:ext cx="17018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FFBC0C"/>
                </a:solidFill>
                <a:latin typeface="Calibri"/>
              </a:rPr>
              <a:t>CỬA HÀNG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51800" y="3111500"/>
            <a:ext cx="165100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595956"/>
                </a:solidFill>
                <a:latin typeface="Calibri"/>
              </a:rPr>
              <a:t>Đạt thì đóng phiếu, chưa đạt thì trả lại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02800" y="2120900"/>
            <a:ext cx="20320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DB0007"/>
                </a:solidFill>
                <a:latin typeface="Calibri"/>
              </a:rPr>
              <a:t>›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880600" y="1841500"/>
            <a:ext cx="1701800" cy="914400"/>
          </a:xfrm>
          <a:prstGeom prst="rect">
            <a:avLst/>
          </a:prstGeom>
          <a:solidFill>
            <a:srgbClr val="F5F5F3"/>
          </a:solidFill>
          <a:ln w="12700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56800" y="2019300"/>
            <a:ext cx="1549400" cy="609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595956"/>
                </a:solidFill>
                <a:latin typeface="Calibri"/>
              </a:rPr>
              <a:t>Hoàn tất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80600" y="2832100"/>
            <a:ext cx="17018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D8D8D4"/>
                </a:solidFill>
                <a:latin typeface="Calibri"/>
              </a:rPr>
              <a:t>Hệ thống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06000" y="3111500"/>
            <a:ext cx="165100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595956"/>
                </a:solidFill>
                <a:latin typeface="Calibri"/>
              </a:rPr>
              <a:t>Ghi nhận người và thời điểm nghiệm thu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600" y="6146800"/>
            <a:ext cx="109728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595956"/>
                </a:solidFill>
                <a:latin typeface="Calibri"/>
              </a:rPr>
              <a:t>Cửa hàng chỉ cần nhớ 3 lần bấm nút. Giữa các lần đó, kỹ thuật viên lo phần chuyên môn.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49000" y="6426200"/>
            <a:ext cx="63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D8D8D4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1905000"/>
            <a:ext cx="1905000" cy="15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600" b="1">
                <a:solidFill>
                  <a:srgbClr val="FFBC0C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3454400"/>
            <a:ext cx="10972800" cy="10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Báo hỏng - Tạo phiếu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470400"/>
            <a:ext cx="109728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0">
                <a:solidFill>
                  <a:srgbClr val="FFBC0C"/>
                </a:solidFill>
                <a:latin typeface="Calibri"/>
              </a:rPr>
              <a:t>Khi thiết bị tại cửa hàng gặp sự cố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9000" y="6426200"/>
            <a:ext cx="63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D8D8D4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82600"/>
            <a:ext cx="10972800" cy="55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DB0007"/>
                </a:solidFill>
                <a:latin typeface="Calibri"/>
              </a:rPr>
              <a:t>1. Tạo phiếu báo hỏng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016000"/>
            <a:ext cx="711200" cy="50800"/>
          </a:xfrm>
          <a:prstGeom prst="rect">
            <a:avLst/>
          </a:prstGeom>
          <a:solidFill>
            <a:srgbClr val="FFB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117600"/>
            <a:ext cx="109728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595956"/>
                </a:solidFill>
                <a:latin typeface="Calibri"/>
              </a:rPr>
              <a:t>Đường dẫn: Bảo trì → Yêu cầu bảo trì → Mới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333500"/>
            <a:ext cx="7112000" cy="4699000"/>
          </a:xfrm>
          <a:prstGeom prst="rect">
            <a:avLst/>
          </a:prstGeom>
          <a:solidFill>
            <a:srgbClr val="F5F5F3"/>
          </a:solidFill>
          <a:ln w="12700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D8D8D4"/>
                </a:solidFill>
                <a:latin typeface="Calibri"/>
              </a:rPr>
              <a:t>[ Ảnh chụp màn hình ]</a:t>
            </a:r>
            <a:br/>
            <a:r>
              <a:rPr sz="1300">
                <a:solidFill>
                  <a:srgbClr val="D8D8D4"/>
                </a:solidFill>
                <a:latin typeface="Calibri"/>
              </a:rPr>
              <a:t>shots/01-tao-phieu.png</a:t>
            </a:r>
          </a:p>
        </p:txBody>
      </p:sp>
      <p:sp>
        <p:nvSpPr>
          <p:cNvPr id="6" name="Oval 5"/>
          <p:cNvSpPr/>
          <p:nvPr/>
        </p:nvSpPr>
        <p:spPr>
          <a:xfrm>
            <a:off x="8077200" y="1384300"/>
            <a:ext cx="304800" cy="3048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9000" y="1371600"/>
            <a:ext cx="30734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595956"/>
                </a:solidFill>
                <a:latin typeface="Calibri"/>
              </a:rPr>
              <a:t>Nhập tiêu đề ngắn gọn, mô tả đúng sự cố. Ví dụ: Máy lạnh khu bếp không mát</a:t>
            </a:r>
          </a:p>
        </p:txBody>
      </p:sp>
      <p:sp>
        <p:nvSpPr>
          <p:cNvPr id="8" name="Oval 7"/>
          <p:cNvSpPr/>
          <p:nvPr/>
        </p:nvSpPr>
        <p:spPr>
          <a:xfrm>
            <a:off x="8077200" y="1955800"/>
            <a:ext cx="304800" cy="3048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9000" y="1943100"/>
            <a:ext cx="30734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595956"/>
                </a:solidFill>
                <a:latin typeface="Calibri"/>
              </a:rPr>
              <a:t>Chọn thiết bị bị hỏng từ danh sách</a:t>
            </a:r>
          </a:p>
        </p:txBody>
      </p:sp>
      <p:sp>
        <p:nvSpPr>
          <p:cNvPr id="10" name="Oval 9"/>
          <p:cNvSpPr/>
          <p:nvPr/>
        </p:nvSpPr>
        <p:spPr>
          <a:xfrm>
            <a:off x="8077200" y="2336800"/>
            <a:ext cx="304800" cy="3048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9000" y="2324100"/>
            <a:ext cx="30734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595956"/>
                </a:solidFill>
                <a:latin typeface="Calibri"/>
              </a:rPr>
              <a:t>Ô Cửa hàng tự động điền theo thiết bị đã chọn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9000" y="2857500"/>
            <a:ext cx="3073400" cy="43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DB0007"/>
                </a:solidFill>
                <a:latin typeface="Calibri"/>
              </a:rPr>
              <a:t>⚠ Không cần gõ tay, không lo chọn nhầm sang cửa hàng khác</a:t>
            </a:r>
          </a:p>
        </p:txBody>
      </p:sp>
      <p:sp>
        <p:nvSpPr>
          <p:cNvPr id="13" name="Oval 12"/>
          <p:cNvSpPr/>
          <p:nvPr/>
        </p:nvSpPr>
        <p:spPr>
          <a:xfrm>
            <a:off x="8077200" y="3378200"/>
            <a:ext cx="304800" cy="3048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9000" y="3365500"/>
            <a:ext cx="30734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595956"/>
                </a:solidFill>
                <a:latin typeface="Calibri"/>
              </a:rPr>
              <a:t>Mô tả tình trạng hỏng để kỹ thuật viên dễ hình dung</a:t>
            </a:r>
          </a:p>
        </p:txBody>
      </p:sp>
      <p:sp>
        <p:nvSpPr>
          <p:cNvPr id="15" name="Oval 14"/>
          <p:cNvSpPr/>
          <p:nvPr/>
        </p:nvSpPr>
        <p:spPr>
          <a:xfrm>
            <a:off x="8077200" y="3949700"/>
            <a:ext cx="304800" cy="3048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9000" y="3937000"/>
            <a:ext cx="30734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595956"/>
                </a:solidFill>
                <a:latin typeface="Calibri"/>
              </a:rPr>
              <a:t>Bấm Lưu - phần việc của cửa hàng ở bước này kết thúc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9000" y="6426200"/>
            <a:ext cx="63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D8D8D4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82600"/>
            <a:ext cx="10972800" cy="55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DB0007"/>
                </a:solidFill>
                <a:latin typeface="Calibri"/>
              </a:rPr>
              <a:t>1. Phân quyền theo cửa hàng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016000"/>
            <a:ext cx="711200" cy="50800"/>
          </a:xfrm>
          <a:prstGeom prst="rect">
            <a:avLst/>
          </a:prstGeom>
          <a:solidFill>
            <a:srgbClr val="FFB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117600"/>
            <a:ext cx="109728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595956"/>
                </a:solidFill>
                <a:latin typeface="Calibri"/>
              </a:rPr>
              <a:t>Vì sao cả chuỗi dùng chung một hệ thống mà không lẫn dữ liệu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333500"/>
            <a:ext cx="6858000" cy="4699000"/>
          </a:xfrm>
          <a:prstGeom prst="rect">
            <a:avLst/>
          </a:prstGeom>
          <a:solidFill>
            <a:srgbClr val="F5F5F3"/>
          </a:solidFill>
          <a:ln w="12700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D8D8D4"/>
                </a:solidFill>
                <a:latin typeface="Calibri"/>
              </a:rPr>
              <a:t>[ Ảnh chụp màn hình ]</a:t>
            </a:r>
            <a:br/>
            <a:r>
              <a:rPr sz="1300">
                <a:solidFill>
                  <a:srgbClr val="D8D8D4"/>
                </a:solidFill>
                <a:latin typeface="Calibri"/>
              </a:rPr>
              <a:t>shots/02-phan-quyen.png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23200" y="1409700"/>
            <a:ext cx="3759200" cy="469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400">
                <a:solidFill>
                  <a:srgbClr val="595956"/>
                </a:solidFill>
                <a:latin typeface="Calibri"/>
              </a:rPr>
              <a:t>• Cửa hàng chỉ nhìn thấy thiết bị của chính cửa hàng mình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400">
                <a:solidFill>
                  <a:srgbClr val="595956"/>
                </a:solidFill>
                <a:latin typeface="Calibri"/>
              </a:rPr>
              <a:t>• Chỉ thấy các phiếu bảo trì do cửa hàng mình tạo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400">
                <a:solidFill>
                  <a:srgbClr val="595956"/>
                </a:solidFill>
                <a:latin typeface="Calibri"/>
              </a:rPr>
              <a:t>• Dữ liệu cửa hàng khác được hệ thống khóa hoàn toàn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400">
                <a:solidFill>
                  <a:srgbClr val="595956"/>
                </a:solidFill>
                <a:latin typeface="Calibri"/>
              </a:rPr>
              <a:t>• Không cần lo lọc nhầm hay xem nhầm phiếu</a:t>
            </a:r>
          </a:p>
        </p:txBody>
      </p:sp>
      <p:sp>
        <p:nvSpPr>
          <p:cNvPr id="7" name="Rectangle 6"/>
          <p:cNvSpPr/>
          <p:nvPr/>
        </p:nvSpPr>
        <p:spPr>
          <a:xfrm>
            <a:off x="7823200" y="5143500"/>
            <a:ext cx="3759200" cy="889000"/>
          </a:xfrm>
          <a:prstGeom prst="rect">
            <a:avLst/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75600" y="5270500"/>
            <a:ext cx="3454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DB0007"/>
                </a:solidFill>
                <a:latin typeface="Calibri"/>
              </a:rPr>
              <a:t>⚠ Sau khi lưu phiếu, kỹ thuật viên nhận thông báo và tiếp nhận. Cửa hàng chờ đến bước duyệt.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26200"/>
            <a:ext cx="63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D8D8D4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1905000"/>
            <a:ext cx="1905000" cy="15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600" b="1">
                <a:solidFill>
                  <a:srgbClr val="FFBC0C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3454400"/>
            <a:ext cx="10972800" cy="10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Duyệt phiếu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470400"/>
            <a:ext cx="109728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0">
                <a:solidFill>
                  <a:srgbClr val="FFBC0C"/>
                </a:solidFill>
                <a:latin typeface="Calibri"/>
              </a:rPr>
              <a:t>Chi phí và vật tư - điểm chạm quan trọng nhất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9000" y="6426200"/>
            <a:ext cx="63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D8D8D4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82600"/>
            <a:ext cx="10972800" cy="55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DB0007"/>
                </a:solidFill>
                <a:latin typeface="Calibri"/>
              </a:rPr>
              <a:t>2. Nguyên tắc hai chữ ký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016000"/>
            <a:ext cx="711200" cy="50800"/>
          </a:xfrm>
          <a:prstGeom prst="rect">
            <a:avLst/>
          </a:prstGeom>
          <a:solidFill>
            <a:srgbClr val="FFB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117600"/>
            <a:ext cx="109728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595956"/>
                </a:solidFill>
                <a:latin typeface="Calibri"/>
              </a:rPr>
              <a:t>Thiết kế cốt lõi của bước duyệt</a:t>
            </a:r>
          </a:p>
        </p:txBody>
      </p:sp>
      <p:sp>
        <p:nvSpPr>
          <p:cNvPr id="5" name="Rectangle 4"/>
          <p:cNvSpPr/>
          <p:nvPr/>
        </p:nvSpPr>
        <p:spPr>
          <a:xfrm>
            <a:off x="4724400" y="1333500"/>
            <a:ext cx="6858000" cy="4699000"/>
          </a:xfrm>
          <a:prstGeom prst="rect">
            <a:avLst/>
          </a:prstGeom>
          <a:solidFill>
            <a:srgbClr val="F5F5F3"/>
          </a:solidFill>
          <a:ln w="12700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D8D8D4"/>
                </a:solidFill>
                <a:latin typeface="Calibri"/>
              </a:rPr>
              <a:t>[ Ảnh chụp màn hình ]</a:t>
            </a:r>
            <a:br/>
            <a:r>
              <a:rPr sz="1300">
                <a:solidFill>
                  <a:srgbClr val="D8D8D4"/>
                </a:solidFill>
                <a:latin typeface="Calibri"/>
              </a:rPr>
              <a:t>shots/03-hai-chu-ky.png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409700"/>
            <a:ext cx="3759200" cy="469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400">
                <a:solidFill>
                  <a:srgbClr val="595956"/>
                </a:solidFill>
                <a:latin typeface="Calibri"/>
              </a:rPr>
              <a:t>• Cửa hàng duyệt phần CHI PHÍ, vì cửa hàng là nơi chịu tiền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400">
                <a:solidFill>
                  <a:srgbClr val="595956"/>
                </a:solidFill>
                <a:latin typeface="Calibri"/>
              </a:rPr>
              <a:t>• Quản lý kỹ thuật duyệt phần VẬT TƯ và kỹ thuật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400">
                <a:solidFill>
                  <a:srgbClr val="595956"/>
                </a:solidFill>
                <a:latin typeface="Calibri"/>
              </a:rPr>
              <a:t>• Chỉ khi cả hai cùng bấm duyệt thì phiếu mới thông qua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400">
                <a:solidFill>
                  <a:srgbClr val="595956"/>
                </a:solidFill>
                <a:latin typeface="Calibri"/>
              </a:rPr>
              <a:t>• Hai chữ ký là hai lớp kiểm soát độc lập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5143500"/>
            <a:ext cx="3759200" cy="889000"/>
          </a:xfrm>
          <a:prstGeom prst="rect">
            <a:avLst/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5270500"/>
            <a:ext cx="3454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DB0007"/>
                </a:solidFill>
                <a:latin typeface="Calibri"/>
              </a:rPr>
              <a:t>⚠ Cửa hàng đã duyệt mà phiếu vẫn đang chờ là ĐÚNG - phiếu còn chờ quản lý kỹ thuật, không phải lỗi.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26200"/>
            <a:ext cx="63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D8D8D4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82600"/>
            <a:ext cx="10972800" cy="55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DB0007"/>
                </a:solidFill>
                <a:latin typeface="Calibri"/>
              </a:rPr>
              <a:t>2. Đọc phiếu duyệt theo thứ tự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016000"/>
            <a:ext cx="711200" cy="50800"/>
          </a:xfrm>
          <a:prstGeom prst="rect">
            <a:avLst/>
          </a:prstGeom>
          <a:solidFill>
            <a:srgbClr val="FFB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117600"/>
            <a:ext cx="109728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595956"/>
                </a:solidFill>
                <a:latin typeface="Calibri"/>
              </a:rPr>
              <a:t>Ba chỗ cần xem là đủ căn cứ quyết định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333500"/>
            <a:ext cx="6350000" cy="4699000"/>
          </a:xfrm>
          <a:prstGeom prst="rect">
            <a:avLst/>
          </a:prstGeom>
          <a:solidFill>
            <a:srgbClr val="F5F5F3"/>
          </a:solidFill>
          <a:ln w="12700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D8D8D4"/>
                </a:solidFill>
                <a:latin typeface="Calibri"/>
              </a:rPr>
              <a:t>[ Ảnh chụp màn hình ]</a:t>
            </a:r>
            <a:br/>
            <a:r>
              <a:rPr sz="1300">
                <a:solidFill>
                  <a:srgbClr val="D8D8D4"/>
                </a:solidFill>
                <a:latin typeface="Calibri"/>
              </a:rPr>
              <a:t>shots/04-doc-phieu-duyet.png</a:t>
            </a:r>
          </a:p>
        </p:txBody>
      </p:sp>
      <p:sp>
        <p:nvSpPr>
          <p:cNvPr id="6" name="Oval 5"/>
          <p:cNvSpPr/>
          <p:nvPr/>
        </p:nvSpPr>
        <p:spPr>
          <a:xfrm>
            <a:off x="7315200" y="1384300"/>
            <a:ext cx="304800" cy="3048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47000" y="1371600"/>
            <a:ext cx="38354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595956"/>
                </a:solidFill>
                <a:latin typeface="Calibri"/>
              </a:rPr>
              <a:t>Amount - tổng tiền sẽ duyệt chi, hệ thống tự cộng nhân công cộng vật tư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1905000"/>
            <a:ext cx="3835400" cy="43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DB0007"/>
                </a:solidFill>
                <a:latin typeface="Calibri"/>
              </a:rPr>
              <a:t>⚠ Số tự động tính, không sợ cộng sai</a:t>
            </a:r>
          </a:p>
        </p:txBody>
      </p:sp>
      <p:sp>
        <p:nvSpPr>
          <p:cNvPr id="9" name="Oval 8"/>
          <p:cNvSpPr/>
          <p:nvPr/>
        </p:nvSpPr>
        <p:spPr>
          <a:xfrm>
            <a:off x="7315200" y="2260600"/>
            <a:ext cx="304800" cy="3048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47000" y="2247900"/>
            <a:ext cx="38354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595956"/>
                </a:solidFill>
                <a:latin typeface="Calibri"/>
              </a:rPr>
              <a:t>Tab Kết quả kiểm tra - kỹ thuật viên ghi máy bị gì, đề xuất xử lý ra sao. Đọc đầu tiên để hiểu bối cảnh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0" y="3022600"/>
            <a:ext cx="304800" cy="3048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7000" y="3009900"/>
            <a:ext cx="38354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595956"/>
                </a:solidFill>
                <a:latin typeface="Calibri"/>
              </a:rPr>
              <a:t>Tab Products - bảng vật tư, từng linh kiện kèm giá vốn và thành tiền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0" y="3594100"/>
            <a:ext cx="304800" cy="3048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7000" y="3581400"/>
            <a:ext cx="38354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595956"/>
                </a:solidFill>
                <a:latin typeface="Calibri"/>
              </a:rPr>
              <a:t>Chi phí nhân công - tiền công ước tính cho lần sửa này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0" y="4165600"/>
            <a:ext cx="304800" cy="3048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47000" y="4152900"/>
            <a:ext cx="38354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595956"/>
                </a:solidFill>
                <a:latin typeface="Calibri"/>
              </a:rPr>
              <a:t>Planned Start / End - mốc thời gian kỹ thuật viên dự kiến làm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0" y="4737100"/>
            <a:ext cx="304800" cy="3048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7000" y="4724400"/>
            <a:ext cx="38354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595956"/>
                </a:solidFill>
                <a:latin typeface="Calibri"/>
              </a:rPr>
              <a:t>Tab Approver(s) - thấy cả cửa hàng và quản lý kỹ thuật ở đây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49000" y="6426200"/>
            <a:ext cx="63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D8D8D4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82600"/>
            <a:ext cx="10972800" cy="55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DB0007"/>
                </a:solidFill>
                <a:latin typeface="Calibri"/>
              </a:rPr>
              <a:t>2. Quyết định duyệt hoặc từ chối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016000"/>
            <a:ext cx="711200" cy="50800"/>
          </a:xfrm>
          <a:prstGeom prst="rect">
            <a:avLst/>
          </a:prstGeom>
          <a:solidFill>
            <a:srgbClr val="FFB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1333500"/>
            <a:ext cx="7112000" cy="4699000"/>
          </a:xfrm>
          <a:prstGeom prst="rect">
            <a:avLst/>
          </a:prstGeom>
          <a:solidFill>
            <a:srgbClr val="F5F5F3"/>
          </a:solidFill>
          <a:ln w="12700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D8D8D4"/>
                </a:solidFill>
                <a:latin typeface="Calibri"/>
              </a:rPr>
              <a:t>[ Ảnh chụp màn hình ]</a:t>
            </a:r>
            <a:br/>
            <a:r>
              <a:rPr sz="1300">
                <a:solidFill>
                  <a:srgbClr val="D8D8D4"/>
                </a:solidFill>
                <a:latin typeface="Calibri"/>
              </a:rPr>
              <a:t>shots/05-duyet-tu-choi.png</a:t>
            </a:r>
          </a:p>
        </p:txBody>
      </p:sp>
      <p:sp>
        <p:nvSpPr>
          <p:cNvPr id="5" name="Oval 4"/>
          <p:cNvSpPr/>
          <p:nvPr/>
        </p:nvSpPr>
        <p:spPr>
          <a:xfrm>
            <a:off x="8077200" y="1384300"/>
            <a:ext cx="304800" cy="3048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9000" y="1371600"/>
            <a:ext cx="30734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595956"/>
                </a:solidFill>
                <a:latin typeface="Calibri"/>
              </a:rPr>
              <a:t>Chi phí hợp lý → bấm Approve để duyệt</a:t>
            </a:r>
          </a:p>
        </p:txBody>
      </p:sp>
      <p:sp>
        <p:nvSpPr>
          <p:cNvPr id="7" name="Oval 6"/>
          <p:cNvSpPr/>
          <p:nvPr/>
        </p:nvSpPr>
        <p:spPr>
          <a:xfrm>
            <a:off x="8077200" y="1765300"/>
            <a:ext cx="304800" cy="3048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9000" y="1752600"/>
            <a:ext cx="30734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595956"/>
                </a:solidFill>
                <a:latin typeface="Calibri"/>
              </a:rPr>
              <a:t>Chưa hợp lý → bấm Refuse, hệ thống báo ngược cho kỹ thuật viên điều chỉnh và trình lại</a:t>
            </a:r>
          </a:p>
        </p:txBody>
      </p:sp>
      <p:sp>
        <p:nvSpPr>
          <p:cNvPr id="9" name="Oval 8"/>
          <p:cNvSpPr/>
          <p:nvPr/>
        </p:nvSpPr>
        <p:spPr>
          <a:xfrm>
            <a:off x="8077200" y="2527300"/>
            <a:ext cx="304800" cy="3048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9000" y="2514600"/>
            <a:ext cx="30734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595956"/>
                </a:solidFill>
                <a:latin typeface="Calibri"/>
              </a:rPr>
              <a:t>Cửa hàng duyệt TIỀN, không duyệt kỹ thuật. Phần chuyên môn đã có quản lý kỹ thuật gác giúp</a:t>
            </a:r>
          </a:p>
        </p:txBody>
      </p:sp>
      <p:sp>
        <p:nvSpPr>
          <p:cNvPr id="11" name="Oval 10"/>
          <p:cNvSpPr/>
          <p:nvPr/>
        </p:nvSpPr>
        <p:spPr>
          <a:xfrm>
            <a:off x="8077200" y="3289300"/>
            <a:ext cx="304800" cy="3048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9000" y="3276600"/>
            <a:ext cx="30734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595956"/>
                </a:solidFill>
                <a:latin typeface="Calibri"/>
              </a:rPr>
              <a:t>Cả hai duyệt xong, phiếu chuyển Approved, kỹ thuật viên bắt đầu chuẩn bị vật tư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49000" y="6426200"/>
            <a:ext cx="63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D8D8D4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1905000"/>
            <a:ext cx="1905000" cy="15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600" b="1">
                <a:solidFill>
                  <a:srgbClr val="FFBC0C"/>
                </a:solidFill>
                <a:latin typeface="Calibri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3454400"/>
            <a:ext cx="10972800" cy="10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Nghiệm thu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470400"/>
            <a:ext cx="109728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0">
                <a:solidFill>
                  <a:srgbClr val="FFBC0C"/>
                </a:solidFill>
                <a:latin typeface="Calibri"/>
              </a:rPr>
              <a:t>Cửa hàng là người gác cổng cuối cùng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9000" y="6426200"/>
            <a:ext cx="63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D8D8D4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82600"/>
            <a:ext cx="10972800" cy="55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DB0007"/>
                </a:solidFill>
                <a:latin typeface="Calibri"/>
              </a:rPr>
              <a:t>3. Nghiệm thu sau khi sửa xong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016000"/>
            <a:ext cx="711200" cy="50800"/>
          </a:xfrm>
          <a:prstGeom prst="rect">
            <a:avLst/>
          </a:prstGeom>
          <a:solidFill>
            <a:srgbClr val="FFB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117600"/>
            <a:ext cx="109728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595956"/>
                </a:solidFill>
                <a:latin typeface="Calibri"/>
              </a:rPr>
              <a:t>Tab Nghiệm thu chỉ hiện khi kỹ thuật viên đã báo hoàn tất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333500"/>
            <a:ext cx="7112000" cy="4699000"/>
          </a:xfrm>
          <a:prstGeom prst="rect">
            <a:avLst/>
          </a:prstGeom>
          <a:solidFill>
            <a:srgbClr val="F5F5F3"/>
          </a:solidFill>
          <a:ln w="12700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D8D8D4"/>
                </a:solidFill>
                <a:latin typeface="Calibri"/>
              </a:rPr>
              <a:t>[ Ảnh chụp màn hình ]</a:t>
            </a:r>
            <a:br/>
            <a:r>
              <a:rPr sz="1300">
                <a:solidFill>
                  <a:srgbClr val="D8D8D4"/>
                </a:solidFill>
                <a:latin typeface="Calibri"/>
              </a:rPr>
              <a:t>shots/06-nghiem-thu.png</a:t>
            </a:r>
          </a:p>
        </p:txBody>
      </p:sp>
      <p:sp>
        <p:nvSpPr>
          <p:cNvPr id="6" name="Oval 5"/>
          <p:cNvSpPr/>
          <p:nvPr/>
        </p:nvSpPr>
        <p:spPr>
          <a:xfrm>
            <a:off x="8077200" y="1384300"/>
            <a:ext cx="304800" cy="3048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9000" y="1371600"/>
            <a:ext cx="30734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595956"/>
                </a:solidFill>
                <a:latin typeface="Calibri"/>
              </a:rPr>
              <a:t>Nhận thông báo tự động khi kỹ thuật viên bấm hoàn tất sửa chữa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9000" y="1905000"/>
            <a:ext cx="3073400" cy="43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DB0007"/>
                </a:solidFill>
                <a:latin typeface="Calibri"/>
              </a:rPr>
              <a:t>⚠ Không cần ai gọi điện nhắc</a:t>
            </a:r>
          </a:p>
        </p:txBody>
      </p:sp>
      <p:sp>
        <p:nvSpPr>
          <p:cNvPr id="9" name="Oval 8"/>
          <p:cNvSpPr/>
          <p:nvPr/>
        </p:nvSpPr>
        <p:spPr>
          <a:xfrm>
            <a:off x="8077200" y="2260600"/>
            <a:ext cx="304800" cy="3048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9000" y="2247900"/>
            <a:ext cx="30734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595956"/>
                </a:solidFill>
                <a:latin typeface="Calibri"/>
              </a:rPr>
              <a:t>Ra kiểm tra thực tế xem thiết bị đã chạy tốt chưa</a:t>
            </a:r>
          </a:p>
        </p:txBody>
      </p:sp>
      <p:sp>
        <p:nvSpPr>
          <p:cNvPr id="11" name="Oval 10"/>
          <p:cNvSpPr/>
          <p:nvPr/>
        </p:nvSpPr>
        <p:spPr>
          <a:xfrm>
            <a:off x="8077200" y="2832100"/>
            <a:ext cx="304800" cy="3048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9000" y="2819400"/>
            <a:ext cx="30734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595956"/>
                </a:solidFill>
                <a:latin typeface="Calibri"/>
              </a:rPr>
              <a:t>Ghi chú nghiệm thu nếu cần (không bắt buộc)</a:t>
            </a:r>
          </a:p>
        </p:txBody>
      </p:sp>
      <p:sp>
        <p:nvSpPr>
          <p:cNvPr id="13" name="Oval 12"/>
          <p:cNvSpPr/>
          <p:nvPr/>
        </p:nvSpPr>
        <p:spPr>
          <a:xfrm>
            <a:off x="8077200" y="3403600"/>
            <a:ext cx="304800" cy="3048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9000" y="3390900"/>
            <a:ext cx="30734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595956"/>
                </a:solidFill>
                <a:latin typeface="Calibri"/>
              </a:rPr>
              <a:t>Nghiệm thu Đạt → phiếu đóng, hệ thống ghi người và thời điểm nghiệm thu</a:t>
            </a:r>
          </a:p>
        </p:txBody>
      </p:sp>
      <p:sp>
        <p:nvSpPr>
          <p:cNvPr id="15" name="Oval 14"/>
          <p:cNvSpPr/>
          <p:nvPr/>
        </p:nvSpPr>
        <p:spPr>
          <a:xfrm>
            <a:off x="8077200" y="3975100"/>
            <a:ext cx="304800" cy="3048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9000" y="3962400"/>
            <a:ext cx="30734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595956"/>
                </a:solidFill>
                <a:latin typeface="Calibri"/>
              </a:rPr>
              <a:t>Nghiệm thu Cần làm lại → phiếu tự quay về cho kỹ thuật viên sửa tiếp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9000" y="6426200"/>
            <a:ext cx="63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D8D8D4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82600"/>
            <a:ext cx="10972800" cy="55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DB0007"/>
                </a:solidFill>
                <a:latin typeface="Calibri"/>
              </a:rPr>
              <a:t>3. Vòng lặp cho đến khi hài lòng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016000"/>
            <a:ext cx="711200" cy="50800"/>
          </a:xfrm>
          <a:prstGeom prst="rect">
            <a:avLst/>
          </a:prstGeom>
          <a:solidFill>
            <a:srgbClr val="FFB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1333500"/>
            <a:ext cx="6858000" cy="4699000"/>
          </a:xfrm>
          <a:prstGeom prst="rect">
            <a:avLst/>
          </a:prstGeom>
          <a:solidFill>
            <a:srgbClr val="F5F5F3"/>
          </a:solidFill>
          <a:ln w="12700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D8D8D4"/>
                </a:solidFill>
                <a:latin typeface="Calibri"/>
              </a:rPr>
              <a:t>[ Ảnh chụp màn hình ]</a:t>
            </a:r>
            <a:br/>
            <a:r>
              <a:rPr sz="1300">
                <a:solidFill>
                  <a:srgbClr val="D8D8D4"/>
                </a:solidFill>
                <a:latin typeface="Calibri"/>
              </a:rPr>
              <a:t>shots/07-vong-lap.png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23200" y="1409700"/>
            <a:ext cx="3759200" cy="469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400">
                <a:solidFill>
                  <a:srgbClr val="595956"/>
                </a:solidFill>
                <a:latin typeface="Calibri"/>
              </a:rPr>
              <a:t>• Chưa đạt thì bấm Cần làm lại, phiếu quay lại kỹ thuật viên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400">
                <a:solidFill>
                  <a:srgbClr val="595956"/>
                </a:solidFill>
                <a:latin typeface="Calibri"/>
              </a:rPr>
              <a:t>• Sửa xong lại nghiệm thu, lặp đến khi cửa hàng thực sự hài lòng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400">
                <a:solidFill>
                  <a:srgbClr val="595956"/>
                </a:solidFill>
                <a:latin typeface="Calibri"/>
              </a:rPr>
              <a:t>• Không có phiếu nào bị bỏ lửng giữa chừng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400">
                <a:solidFill>
                  <a:srgbClr val="595956"/>
                </a:solidFill>
                <a:latin typeface="Calibri"/>
              </a:rPr>
              <a:t>• Máy chưa ổn thì phiếu chưa được đóng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823200" y="5143500"/>
            <a:ext cx="3759200" cy="889000"/>
          </a:xfrm>
          <a:prstGeom prst="rect">
            <a:avLst/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75600" y="5270500"/>
            <a:ext cx="3454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DB0007"/>
                </a:solidFill>
                <a:latin typeface="Calibri"/>
              </a:rPr>
              <a:t>⚠ Cửa hàng là người gác cổng cuối cùng của toàn bộ quy trình.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9000" y="6426200"/>
            <a:ext cx="63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D8D8D4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82600"/>
            <a:ext cx="10972800" cy="55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DB0007"/>
                </a:solidFill>
                <a:latin typeface="Calibri"/>
              </a:rPr>
              <a:t>Tóm tắt: cửa hàng chỉ cần nhớ 3 nút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016000"/>
            <a:ext cx="711200" cy="50800"/>
          </a:xfrm>
          <a:prstGeom prst="rect">
            <a:avLst/>
          </a:prstGeom>
          <a:solidFill>
            <a:srgbClr val="FFB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117600"/>
            <a:ext cx="109728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595956"/>
                </a:solidFill>
                <a:latin typeface="Calibri"/>
              </a:rPr>
              <a:t>Nếu chỉ nhớ được một slide, hãy nhớ slide này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9600" y="1333500"/>
          <a:ext cx="10972800" cy="284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368"/>
                <a:gridCol w="2852928"/>
                <a:gridCol w="5047488"/>
                <a:gridCol w="2414016"/>
              </a:tblGrid>
              <a:tr h="711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DB000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Khi nào</a:t>
                      </a:r>
                    </a:p>
                  </a:txBody>
                  <a:tcPr>
                    <a:solidFill>
                      <a:srgbClr val="DB000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Cửa hàng làm gì</a:t>
                      </a:r>
                    </a:p>
                  </a:txBody>
                  <a:tcPr>
                    <a:solidFill>
                      <a:srgbClr val="DB000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Nút bấm</a:t>
                      </a:r>
                    </a:p>
                  </a:txBody>
                  <a:tcPr>
                    <a:solidFill>
                      <a:srgbClr val="DB0007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9595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95956"/>
                          </a:solidFill>
                          <a:latin typeface="Calibri"/>
                        </a:rPr>
                        <a:t>Thiết bị hỏng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95956"/>
                          </a:solidFill>
                          <a:latin typeface="Calibri"/>
                        </a:rPr>
                        <a:t>Tạo phiếu, chọn thiết bị (ô cửa hàng tự điền)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95956"/>
                          </a:solidFill>
                          <a:latin typeface="Calibri"/>
                        </a:rPr>
                        <a:t>Lưu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9595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95956"/>
                          </a:solidFill>
                          <a:latin typeface="Calibri"/>
                        </a:rPr>
                        <a:t>Kỹ thuật viên trình chi phí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95956"/>
                          </a:solidFill>
                          <a:latin typeface="Calibri"/>
                        </a:rPr>
                        <a:t>Đọc Amount và Kết quả kiểm tra, quyết định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95956"/>
                          </a:solidFill>
                          <a:latin typeface="Calibri"/>
                        </a:rPr>
                        <a:t>Approve / Refuse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9595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95956"/>
                          </a:solidFill>
                          <a:latin typeface="Calibri"/>
                        </a:rPr>
                        <a:t>Sửa xong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95956"/>
                          </a:solidFill>
                          <a:latin typeface="Calibri"/>
                        </a:rPr>
                        <a:t>Kiểm tra thực tế, chốt kết quả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95956"/>
                          </a:solidFill>
                          <a:latin typeface="Calibri"/>
                        </a:rPr>
                        <a:t>Đạt / Cần làm lại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049000" y="6426200"/>
            <a:ext cx="63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D8D8D4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rgbClr val="FFB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2489200"/>
            <a:ext cx="109728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Cảm 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632200"/>
            <a:ext cx="109728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0">
                <a:solidFill>
                  <a:srgbClr val="FFBC0C"/>
                </a:solidFill>
                <a:latin typeface="Calibri"/>
              </a:rPr>
              <a:t>Hỏng thì tạo phiếu · Trình thì duyệt tiền · Sửa xong thì nghiệm thu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9000" y="6426200"/>
            <a:ext cx="63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D8D8D4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